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yourself by student ID only if required for anonymity. State the project in one sentence: privacy-preserving explainable AI for high-rise / large-building energy prediction using federated learning plus SHAP and LIME. (~45–60s)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Hook with the tension: valuable open EPC data vs privacy walls for sensitive assets. Point to the design triangle — privacy, accuracy, explainability must be co-designed. (~60–75s)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aim once, then walk RQ1–RQ4 quickly. Emphasise that the project jointly evaluates accuracy AND explanation stability — not accuracy alone. (~60s)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REQUIRED section. Walk the decision matrix: compared centralised and FL; FedAvg primary (FedProx essentially tied); MLP for FL because trees cannot be FedAvg-averaged; SHAP+LIME; DP/secure aggregation deferred as future work. (~75–90s)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explicit about the commercial dominance — examiners reward honesty. flat_storey_count ≥ 10 yields ~0 rows; ≥5 is a documented proxy. Mention leakage exclusion briefly. (~75s)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left-to-right: ingest → filter → preprocess → centralised baselines AND federated MLP → SHAP/LIME → evaluation → Streamlit. One pipeline, two training regimes. (~60s)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model updates move — not raw CSVs. Same MLP topology for central neural baseline and FL for a fair comparison. Trees remain centralised competitors. (~60s)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GB is best central model. Stress that excluding emissions features kept R² honest (~0.56 rather than spuriously &gt;0.95). (~45–60s)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convergence from poor R1 to competitive R8. Headline: federated neural model tracks central neural accuracy without pooling data. (~60s)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critical-analysis slide for the 70–100% band. Do not hide significance — reframe with effect size and overlapping CIs. (~60–75s)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Privacy-preserving training did not arbitrarily reshuffle feature importance. Mention LIME complements SHAP for local stories (shown in demo). (~60s)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 SLIDES. Demo live for ~2–3 minutes. Prefer interactive, non-scripted inputs. Show prediction + SHAP. Return to slides for discussion. (~120–180s)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candid. Examiners mark critical evaluation highly. Position limitations as methodological contributions, not excuses. (~75s)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the triangle message. Invite Q&amp;A. Keep under 15 minutes total including demo. (~45–60s)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7377"/>
                </a:solidFill>
                <a:latin typeface="Calibri"/>
              </a:rPr>
              <a:t>MSc Applied Artificial Intelligence  ·  Dissertation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C3E50"/>
                </a:solidFill>
                <a:latin typeface="Calibri"/>
              </a:rPr>
              <a:t>Privacy-Preserving Explainable AI for
Building Energy Performance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D6D7E"/>
                </a:solidFill>
                <a:latin typeface="Calibri"/>
              </a:rPr>
              <a:t>A Federated Learning Approach with SHAP and LIME Integration (PP-XAI)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C3E50"/>
                </a:solidFill>
                <a:latin typeface="Calibri"/>
              </a:rPr>
              <a:t>Student ID: 202440724
Supervisor: Mona  ·  University of Hull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D6D7E"/>
                </a:solidFill>
                <a:latin typeface="Calibri"/>
              </a:rPr>
              <a:t>PP-XAI  ·  Student ID 202440724  ·  MSc Applied AI  ·  University of Hull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D6D7E"/>
                </a:solidFill>
                <a:latin typeface="Calibri"/>
              </a:rP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C3E50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 UK net-zero depends on better building energy insight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 Energy Performance Certificates (EPCs) are rich open data for ML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 High-rise and large commercial assets raise privacy and governance barriers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 Pooling microdata across councils / landlords is often restricted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 Centralised ML assumes data can be shared — often it cannot</a:t>
            </a:r>
          </a:p>
        </p:txBody>
      </p:sp>
      <p:pic>
        <p:nvPicPr>
          <p:cNvPr id="5" name="Picture 4" descr="privacy_accuracy_xai_triang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914400"/>
            <a:ext cx="5303520" cy="419672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D6D7E"/>
                </a:solidFill>
                <a:latin typeface="Calibri"/>
              </a:rPr>
              <a:t>PP-XAI  ·  Student ID 202440724  ·  MSc Applied AI  ·  University of Hull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D6D7E"/>
                </a:solidFill>
                <a:latin typeface="Calibri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C3E50"/>
                </a:solidFill>
                <a:latin typeface="Calibri"/>
              </a:rPr>
              <a:t>Aim, Research Questions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3E50"/>
                </a:solidFill>
                <a:latin typeface="Calibri"/>
              </a:rPr>
              <a:t>Aim: Develop and evaluate a privacy-preserving explainable AI framework (FedAvg + SHAP/LIME) for high-rise building energy prediction on UK EPC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972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RQ1 — Can federated learning approach centralised accuracy while keeping data local?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RQ2 — How stable are SHAP/LIME explanations across federated vs centralised models?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RQ3 — Which features dominate, and are they consistent across cities?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RQ4 — How can federated XAI support transparency (EU AI Act context)?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Objectives: centralised baselines → FedAvg (3 cities) → SHAP/LIME → stats → Streamlit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D6D7E"/>
                </a:solidFill>
                <a:latin typeface="Calibri"/>
              </a:rPr>
              <a:t>PP-XAI  ·  Student ID 202440724  ·  MSc Applied AI  ·  University of Hull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D6D7E"/>
                </a:solidFill>
                <a:latin typeface="Calibri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C3E50"/>
                </a:solidFill>
                <a:latin typeface="Calibri"/>
              </a:rPr>
              <a:t>Options Analysis — What Was Considered &amp; Why</a:t>
            </a:r>
          </a:p>
        </p:txBody>
      </p:sp>
      <p:pic>
        <p:nvPicPr>
          <p:cNvPr id="4" name="Picture 3" descr="options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11247120" cy="64379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D6D7E"/>
                </a:solidFill>
                <a:latin typeface="Calibri"/>
              </a:rPr>
              <a:t>PP-XAI  ·  Student ID 202440724  ·  MSc Applied AI  ·  University of Hull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D6D7E"/>
                </a:solidFill>
                <a:latin typeface="Calibri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C3E50"/>
                </a:solidFill>
                <a:latin typeface="Calibri"/>
              </a:rPr>
              <a:t>Data &amp; High-Rise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5943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 Sources: MHCLG domestic &amp; non-domestic EPCs (OGL v3.0)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 Scanned: ~13.8M domestic + ~841K non-domestic rows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 Filtered corpus: 5,663 records (London / Manchester / Birmingham)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 Domestic: flats with storey count ≥ 5 (honest mid/high-rise proxy)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 Non-domestic: floor area ≥ 5,000 m² (excl. schools/hospitals/etc.)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 Critical honesty: 99.4% commercial; only 36 residential flats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 Leakage controls: excluded CO₂ and asset/env score features</a:t>
            </a:r>
          </a:p>
        </p:txBody>
      </p:sp>
      <p:pic>
        <p:nvPicPr>
          <p:cNvPr id="5" name="Picture 4" descr="eda_city_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914400"/>
            <a:ext cx="4937760" cy="3291840"/>
          </a:xfrm>
          <a:prstGeom prst="rect">
            <a:avLst/>
          </a:prstGeom>
        </p:spPr>
      </p:pic>
      <p:pic>
        <p:nvPicPr>
          <p:cNvPr id="6" name="Picture 5" descr="partition_typology_m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3657600"/>
            <a:ext cx="4937760" cy="282157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D6D7E"/>
                </a:solidFill>
                <a:latin typeface="Calibri"/>
              </a:rPr>
              <a:t>PP-XAI  ·  Student ID 202440724  ·  MSc Applied AI  ·  University of Hull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D6D7E"/>
                </a:solidFill>
                <a:latin typeface="Calibri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C3E50"/>
                </a:solidFill>
                <a:latin typeface="Calibri"/>
              </a:rPr>
              <a:t>PP-XAI Pipeline — What Was Developed</a:t>
            </a:r>
          </a:p>
        </p:txBody>
      </p:sp>
      <p:pic>
        <p:nvPicPr>
          <p:cNvPr id="4" name="Picture 3" descr="fig3_1_ppxai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777240"/>
            <a:ext cx="11064240" cy="51794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D6D7E"/>
                </a:solidFill>
                <a:latin typeface="Calibri"/>
              </a:rPr>
              <a:t>PP-XAI  ·  Student ID 202440724  ·  MSc Applied AI  ·  University of Hull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D6D7E"/>
                </a:solidFill>
                <a:latin typeface="Calibri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C3E50"/>
                </a:solidFill>
                <a:latin typeface="Calibri"/>
              </a:rPr>
              <a:t>Federated Architecture &amp; EnergyMLP</a:t>
            </a:r>
          </a:p>
        </p:txBody>
      </p:sp>
      <p:pic>
        <p:nvPicPr>
          <p:cNvPr id="4" name="Picture 3" descr="fig3_2_fedavg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85800"/>
            <a:ext cx="6583680" cy="3103584"/>
          </a:xfrm>
          <a:prstGeom prst="rect">
            <a:avLst/>
          </a:prstGeom>
        </p:spPr>
      </p:pic>
      <p:pic>
        <p:nvPicPr>
          <p:cNvPr id="5" name="Picture 4" descr="fig3_3_mlp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097280"/>
            <a:ext cx="4754880" cy="16486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D6D7E"/>
                </a:solidFill>
                <a:latin typeface="Calibri"/>
              </a:rPr>
              <a:t>3 clients · 8 FedAvg rounds · 4 local epochs · sample-size weighted aggregation  (McMahan et al., 2017; Beutel et al., 2020)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D6D7E"/>
                </a:solidFill>
                <a:latin typeface="Calibri"/>
              </a:rPr>
              <a:t>PP-XAI  ·  Student ID 202440724  ·  MSc Applied AI  ·  University of Hull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D6D7E"/>
                </a:solidFill>
                <a:latin typeface="Calibri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C3E50"/>
                </a:solidFill>
                <a:latin typeface="Calibri"/>
              </a:rPr>
              <a:t>Centralised Results — Gradient Boosting Leads</a:t>
            </a:r>
          </a:p>
        </p:txBody>
      </p:sp>
      <p:pic>
        <p:nvPicPr>
          <p:cNvPr id="4" name="Picture 3" descr="baseline_rm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5669280" cy="3543300"/>
          </a:xfrm>
          <a:prstGeom prst="rect">
            <a:avLst/>
          </a:prstGeom>
        </p:spPr>
      </p:pic>
      <p:pic>
        <p:nvPicPr>
          <p:cNvPr id="5" name="Picture 4" descr="baseline_r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777240"/>
            <a:ext cx="5486400" cy="3429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Calibri"/>
              </a:rPr>
              <a:t>Best: Gradient Boosting — RMSE 113.04 · MAE 80.02 · R² 0.559  |  Moderate accuracy without leakage features (credible, not inflated)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D6D7E"/>
                </a:solidFill>
                <a:latin typeface="Calibri"/>
              </a:rPr>
              <a:t>PP-XAI  ·  Student ID 202440724  ·  MSc Applied AI  ·  University of Hull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D6D7E"/>
                </a:solidFill>
                <a:latin typeface="Calibri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C3E50"/>
                </a:solidFill>
                <a:latin typeface="Calibri"/>
              </a:rPr>
              <a:t>Federated Results (RQ1) — Near Parity with Central MLP</a:t>
            </a:r>
          </a:p>
        </p:txBody>
      </p:sp>
      <p:pic>
        <p:nvPicPr>
          <p:cNvPr id="4" name="Picture 3" descr="federated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6858000" cy="3857625"/>
          </a:xfrm>
          <a:prstGeom prst="rect">
            <a:avLst/>
          </a:prstGeom>
        </p:spPr>
      </p:pic>
      <p:pic>
        <p:nvPicPr>
          <p:cNvPr id="5" name="Picture 4" descr="results_head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371600"/>
            <a:ext cx="4572000" cy="171843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  <a:latin typeface="Calibri"/>
              </a:rPr>
              <a:t>FedAvg R8: RMSE 118.21 · R² 0.518  ≈  central MLP RMSE 117.04 · R² 0.528  (H1: within ~1% RMSE of central MLP)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D6D7E"/>
                </a:solidFill>
                <a:latin typeface="Calibri"/>
              </a:rPr>
              <a:t>PP-XAI  ·  Student ID 202440724  ·  MSc Applied AI  ·  University of Hull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D6D7E"/>
                </a:solidFill>
                <a:latin typeface="Calibri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C3E50"/>
                </a:solidFill>
                <a:latin typeface="Calibri"/>
              </a:rPr>
              <a:t>Critical Analysis — Statistical vs Practical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 Wilcoxon (GB vs Fed absolute errors): p = 1.85×10⁻⁵ — statistically significant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 Paired t-test: p = 7.97×10⁻⁵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 Cohen’s d ≈ 0.059 — negligible effect size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 Bootstrap 95% CI RMSE overlap: GB 105.9–120.1 vs Fed 110.8–125.4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 Interpretation: gap is real but practically small under a privacy constraint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2C3E50"/>
                </a:solidFill>
                <a:latin typeface="Calibri"/>
              </a:rPr>
              <a:t>•  Central GB still wins if pooling is allowed; FedAvg is the relevant benchmark when it is not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D6D7E"/>
                </a:solidFill>
                <a:latin typeface="Calibri"/>
              </a:rPr>
              <a:t>PP-XAI  ·  Student ID 202440724  ·  MSc Applied AI  ·  University of Hull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D6D7E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C3E50"/>
                </a:solidFill>
                <a:latin typeface="Calibri"/>
              </a:rPr>
              <a:t>Explainability (RQ2–RQ3) — Stable Across Regimes</a:t>
            </a:r>
          </a:p>
        </p:txBody>
      </p:sp>
      <p:pic>
        <p:nvPicPr>
          <p:cNvPr id="4" name="Picture 3" descr="shap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685800"/>
            <a:ext cx="5852160" cy="3192087"/>
          </a:xfrm>
          <a:prstGeom prst="rect">
            <a:avLst/>
          </a:prstGeom>
        </p:spPr>
      </p:pic>
      <p:pic>
        <p:nvPicPr>
          <p:cNvPr id="5" name="Picture 4" descr="per_client_shap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685800"/>
            <a:ext cx="5577840" cy="2788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521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  <a:latin typeface="Calibri"/>
              </a:rPr>
              <a:t>H2: Spearman ρ = 0.956 (central GB vs fed MLP)  ·  H3: top-5 Jaccard avg 0.78 across cities  ·  Drivers: storey_count, property type, natural gas  (Lundberg &amp; Lee, 2017)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D6D7E"/>
                </a:solidFill>
                <a:latin typeface="Calibri"/>
              </a:rPr>
              <a:t>PP-XAI  ·  Student ID 202440724  ·  MSc Applied AI  ·  University of Hull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D6D7E"/>
                </a:solidFill>
                <a:latin typeface="Calibr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A7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C3E50"/>
                </a:solidFill>
                <a:latin typeface="Calibri"/>
              </a:rPr>
              <a:t>Live Demonstration — Streamlit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 Interactive prediction of energy intensity (kWh/m²/year)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 Building inputs → preprocessor → best model → prediction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 Global SHAP importance table for transparency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 EU AI Act Article 13 transparency note embedded in the UI (H4)</a:t>
            </a:r>
          </a:p>
          <a:p>
            <a:pPr algn="l">
              <a:spcAft>
                <a:spcPts val="14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 Demo command:  source scripts/env.sh  &amp;&amp;  streamlit run src/webapp/app.py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3035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7377"/>
                </a:solidFill>
                <a:latin typeface="Calibri"/>
              </a:rPr>
              <a:t>Switch to the running app now — try 2–3 non-scripted buildings (different cities / property types).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D6D7E"/>
                </a:solidFill>
                <a:latin typeface="Calibri"/>
              </a:rPr>
              <a:t>PP-XAI  ·  Student ID 202440724  ·  MSc Applied AI  ·  University of Hull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D6D7E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C3E50"/>
                </a:solidFill>
                <a:latin typeface="Calibri"/>
              </a:rPr>
              <a:t>Discussion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Trade-off: central GB wins on RMSE if pooling is allowed; FedAvg wins on data residency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Explanation stability reduces fear that FL yields an ‘alien’ uninterpretable model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Limitation: domestic high-rise labelling in bulk EPC is weak — commercial proxy dominates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Limitation: in-process FedAvg simulator ≠ production secure FL (no DP / secure aggregation yet)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Limitation: KernelSHAP uses subsamples; rankings can shift with background choice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Strength: leakage ablation and schema honesty strengthen scientific credibility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D6D7E"/>
                </a:solidFill>
                <a:latin typeface="Calibri"/>
              </a:rPr>
              <a:t>PP-XAI  ·  Student ID 202440724  ·  MSc Applied AI  ·  University of Hull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D6D7E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C3E50"/>
                </a:solidFill>
                <a:latin typeface="Calibri"/>
              </a:rPr>
              <a:t>Conclusions, Contributions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Federated MLP approaches central neural accuracy (R² ≈ 0.52 vs 0.53) without pooling raw data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SHAP rankings remain highly aligned across regimes (ρ ≈ 0.96); cross-city consistency holds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Working Streamlit prototype demonstrates stakeholder-facing prediction + explanations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Contributions: PP-XAI pipeline, FL↔XAI stability evidence, honest high-rise schema audit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C3E50"/>
                </a:solidFill>
                <a:latin typeface="Calibri"/>
              </a:rPr>
              <a:t>•  Future work: UPRN–OSM residential linkage, DP-SGD / secure aggregation, more clients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212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D7377"/>
                </a:solidFill>
                <a:latin typeface="Calibri"/>
              </a:rPr>
              <a:t>Thank you — Questions welcome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D6D7E"/>
                </a:solidFill>
                <a:latin typeface="Calibri"/>
              </a:rPr>
              <a:t>Key refs: McMahan et al. (2017); Lundberg &amp; Lee (2017); Ribeiro et al. (2016); Beutel et al. (2020); UK EPC data under OGL v3.0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D6D7E"/>
                </a:solidFill>
                <a:latin typeface="Calibri"/>
              </a:rPr>
              <a:t>PP-XAI  ·  Student ID 202440724  ·  MSc Applied AI  ·  University of Hull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D6D7E"/>
                </a:solidFill>
                <a:latin typeface="Calibri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